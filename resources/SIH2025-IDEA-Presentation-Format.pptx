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40CD57-8104-475F-BBE7-80A18E738431}" type="doc">
      <dgm:prSet loTypeId="urn:microsoft.com/office/officeart/2005/8/layout/h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F973E6B-B3BF-4656-9258-AFE24A8D29D4}">
      <dgm:prSet phldrT="[Text]"/>
      <dgm:spPr/>
      <dgm:t>
        <a:bodyPr/>
        <a:lstStyle/>
        <a:p>
          <a:r>
            <a:rPr lang="en-IN" dirty="0" smtClean="0"/>
            <a:t>Features</a:t>
          </a:r>
          <a:endParaRPr lang="en-IN" dirty="0"/>
        </a:p>
      </dgm:t>
    </dgm:pt>
    <dgm:pt modelId="{2E5D445E-F383-47A5-B542-926AB8C0F9D4}" type="parTrans" cxnId="{0A579ACF-CCF6-4744-B4E2-BD55606F410A}">
      <dgm:prSet/>
      <dgm:spPr/>
      <dgm:t>
        <a:bodyPr/>
        <a:lstStyle/>
        <a:p>
          <a:endParaRPr lang="en-IN"/>
        </a:p>
      </dgm:t>
    </dgm:pt>
    <dgm:pt modelId="{C46F8777-DC78-4803-BAE2-A8B4D09B732E}" type="sibTrans" cxnId="{0A579ACF-CCF6-4744-B4E2-BD55606F410A}">
      <dgm:prSet/>
      <dgm:spPr/>
      <dgm:t>
        <a:bodyPr/>
        <a:lstStyle/>
        <a:p>
          <a:endParaRPr lang="en-IN"/>
        </a:p>
      </dgm:t>
    </dgm:pt>
    <dgm:pt modelId="{3AE2D67A-416F-4AE7-BB67-706B47BDB628}">
      <dgm:prSet phldrT="[Text]"/>
      <dgm:spPr>
        <a:solidFill>
          <a:schemeClr val="bg1">
            <a:lumMod val="85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IN" dirty="0" smtClean="0">
              <a:solidFill>
                <a:schemeClr val="tx1"/>
              </a:solidFill>
            </a:rPr>
            <a:t>Symptom guidance &amp; care advice</a:t>
          </a:r>
          <a:endParaRPr lang="en-IN" dirty="0">
            <a:solidFill>
              <a:schemeClr val="tx1"/>
            </a:solidFill>
          </a:endParaRPr>
        </a:p>
      </dgm:t>
    </dgm:pt>
    <dgm:pt modelId="{46B2B9B4-A114-403F-B4D9-32EA87453079}" type="parTrans" cxnId="{6235D0F5-5412-485B-97DB-E27E002E0108}">
      <dgm:prSet/>
      <dgm:spPr/>
      <dgm:t>
        <a:bodyPr/>
        <a:lstStyle/>
        <a:p>
          <a:endParaRPr lang="en-IN"/>
        </a:p>
      </dgm:t>
    </dgm:pt>
    <dgm:pt modelId="{5915C5DA-85E6-46A8-8D5E-DE466945AC17}" type="sibTrans" cxnId="{6235D0F5-5412-485B-97DB-E27E002E0108}">
      <dgm:prSet/>
      <dgm:spPr/>
      <dgm:t>
        <a:bodyPr/>
        <a:lstStyle/>
        <a:p>
          <a:endParaRPr lang="en-IN"/>
        </a:p>
      </dgm:t>
    </dgm:pt>
    <dgm:pt modelId="{2951A0E0-866C-42A7-9E69-E96A6A32E3B0}">
      <dgm:prSet phldrT="[Text]"/>
      <dgm:spPr/>
      <dgm:t>
        <a:bodyPr/>
        <a:lstStyle/>
        <a:p>
          <a:r>
            <a:rPr lang="en-IN" dirty="0" smtClean="0"/>
            <a:t>Problem -&gt; Solution</a:t>
          </a:r>
          <a:endParaRPr lang="en-IN" dirty="0"/>
        </a:p>
      </dgm:t>
    </dgm:pt>
    <dgm:pt modelId="{A4875FD3-4BDA-4D6C-8006-6F6AFCF92039}" type="parTrans" cxnId="{FB6A2843-D92F-441E-A408-EF4305970EF9}">
      <dgm:prSet/>
      <dgm:spPr/>
      <dgm:t>
        <a:bodyPr/>
        <a:lstStyle/>
        <a:p>
          <a:endParaRPr lang="en-IN"/>
        </a:p>
      </dgm:t>
    </dgm:pt>
    <dgm:pt modelId="{E333DBAB-8C9D-4F18-AC17-4D243AA66CCE}" type="sibTrans" cxnId="{FB6A2843-D92F-441E-A408-EF4305970EF9}">
      <dgm:prSet/>
      <dgm:spPr/>
      <dgm:t>
        <a:bodyPr/>
        <a:lstStyle/>
        <a:p>
          <a:endParaRPr lang="en-IN"/>
        </a:p>
      </dgm:t>
    </dgm:pt>
    <dgm:pt modelId="{5C71D483-78B1-4C74-A1FF-75A5D78BF5B5}">
      <dgm:prSet phldrT="[Text]"/>
      <dgm:spPr>
        <a:solidFill>
          <a:schemeClr val="bg1">
            <a:lumMod val="85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IN" dirty="0" smtClean="0">
              <a:solidFill>
                <a:schemeClr val="tx1"/>
              </a:solidFill>
            </a:rPr>
            <a:t>Info Gap → 24/7 trusted info</a:t>
          </a:r>
          <a:endParaRPr lang="en-IN" dirty="0">
            <a:solidFill>
              <a:schemeClr val="tx1"/>
            </a:solidFill>
          </a:endParaRPr>
        </a:p>
      </dgm:t>
    </dgm:pt>
    <dgm:pt modelId="{6BC554D3-3D2C-4149-9747-7C0FFD5FBD79}" type="parTrans" cxnId="{2EEDC095-021A-4DEF-B8E4-6D935E050FD9}">
      <dgm:prSet/>
      <dgm:spPr/>
      <dgm:t>
        <a:bodyPr/>
        <a:lstStyle/>
        <a:p>
          <a:endParaRPr lang="en-IN"/>
        </a:p>
      </dgm:t>
    </dgm:pt>
    <dgm:pt modelId="{698C06E1-E5B9-4CD9-9763-054D8D6D24CD}" type="sibTrans" cxnId="{2EEDC095-021A-4DEF-B8E4-6D935E050FD9}">
      <dgm:prSet/>
      <dgm:spPr/>
      <dgm:t>
        <a:bodyPr/>
        <a:lstStyle/>
        <a:p>
          <a:endParaRPr lang="en-IN"/>
        </a:p>
      </dgm:t>
    </dgm:pt>
    <dgm:pt modelId="{E62BBD69-152C-4C6F-A7CE-4A6FC261718B}">
      <dgm:prSet phldrT="[Text]"/>
      <dgm:spPr/>
      <dgm:t>
        <a:bodyPr/>
        <a:lstStyle/>
        <a:p>
          <a:r>
            <a:rPr lang="en-IN" dirty="0" smtClean="0"/>
            <a:t>Unique Value</a:t>
          </a:r>
          <a:endParaRPr lang="en-IN" dirty="0"/>
        </a:p>
      </dgm:t>
    </dgm:pt>
    <dgm:pt modelId="{70DCF679-6D60-4D2B-8F51-081E9BBBDD18}" type="parTrans" cxnId="{DF915ADE-92EC-4FD1-BA59-4B046FCC7FCC}">
      <dgm:prSet/>
      <dgm:spPr/>
      <dgm:t>
        <a:bodyPr/>
        <a:lstStyle/>
        <a:p>
          <a:endParaRPr lang="en-IN"/>
        </a:p>
      </dgm:t>
    </dgm:pt>
    <dgm:pt modelId="{85541E6E-6547-40C4-BCF7-FF686737BB3D}" type="sibTrans" cxnId="{DF915ADE-92EC-4FD1-BA59-4B046FCC7FCC}">
      <dgm:prSet/>
      <dgm:spPr/>
      <dgm:t>
        <a:bodyPr/>
        <a:lstStyle/>
        <a:p>
          <a:endParaRPr lang="en-IN"/>
        </a:p>
      </dgm:t>
    </dgm:pt>
    <dgm:pt modelId="{70D2E01F-BE06-406D-86CA-02231E573AF1}">
      <dgm:prSet phldrT="[Text]"/>
      <dgm:spPr>
        <a:solidFill>
          <a:schemeClr val="bg1">
            <a:lumMod val="85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IN" b="1" dirty="0" smtClean="0">
              <a:solidFill>
                <a:schemeClr val="tx1"/>
              </a:solidFill>
            </a:rPr>
            <a:t>Proactive</a:t>
          </a:r>
          <a:r>
            <a:rPr lang="en-IN" dirty="0" smtClean="0">
              <a:solidFill>
                <a:schemeClr val="tx1"/>
              </a:solidFill>
            </a:rPr>
            <a:t>: API-integrated, hyper-local alerts</a:t>
          </a:r>
          <a:endParaRPr lang="en-IN" dirty="0">
            <a:solidFill>
              <a:schemeClr val="tx1"/>
            </a:solidFill>
          </a:endParaRPr>
        </a:p>
      </dgm:t>
    </dgm:pt>
    <dgm:pt modelId="{657CFCFB-7B9C-4F16-BDBB-6044E3365ADA}" type="parTrans" cxnId="{20DA323F-369A-497C-A778-1251E9CD859D}">
      <dgm:prSet/>
      <dgm:spPr/>
      <dgm:t>
        <a:bodyPr/>
        <a:lstStyle/>
        <a:p>
          <a:endParaRPr lang="en-IN"/>
        </a:p>
      </dgm:t>
    </dgm:pt>
    <dgm:pt modelId="{98584BB5-CACA-4EF6-88D0-87AA90BD63C1}" type="sibTrans" cxnId="{20DA323F-369A-497C-A778-1251E9CD859D}">
      <dgm:prSet/>
      <dgm:spPr/>
      <dgm:t>
        <a:bodyPr/>
        <a:lstStyle/>
        <a:p>
          <a:endParaRPr lang="en-IN"/>
        </a:p>
      </dgm:t>
    </dgm:pt>
    <dgm:pt modelId="{18F557A0-EEDD-4524-9438-EBBF224F3EC1}">
      <dgm:prSet/>
      <dgm:spPr>
        <a:solidFill>
          <a:schemeClr val="bg1">
            <a:lumMod val="85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IN" dirty="0" smtClean="0">
              <a:solidFill>
                <a:schemeClr val="tx1"/>
              </a:solidFill>
            </a:rPr>
            <a:t>Outbreak alerts (govt. DBs)</a:t>
          </a:r>
          <a:endParaRPr lang="en-IN" dirty="0">
            <a:solidFill>
              <a:schemeClr val="tx1"/>
            </a:solidFill>
          </a:endParaRPr>
        </a:p>
      </dgm:t>
    </dgm:pt>
    <dgm:pt modelId="{5F90092F-2EC4-4FF2-8E8E-49810FB8C013}" type="parTrans" cxnId="{CCD14410-C53A-429F-B252-468B8716EBB8}">
      <dgm:prSet/>
      <dgm:spPr/>
      <dgm:t>
        <a:bodyPr/>
        <a:lstStyle/>
        <a:p>
          <a:endParaRPr lang="en-IN"/>
        </a:p>
      </dgm:t>
    </dgm:pt>
    <dgm:pt modelId="{3565B8EA-7CF1-47DA-8EEB-38BF53DF560B}" type="sibTrans" cxnId="{CCD14410-C53A-429F-B252-468B8716EBB8}">
      <dgm:prSet/>
      <dgm:spPr/>
      <dgm:t>
        <a:bodyPr/>
        <a:lstStyle/>
        <a:p>
          <a:endParaRPr lang="en-IN"/>
        </a:p>
      </dgm:t>
    </dgm:pt>
    <dgm:pt modelId="{A5FF734A-5626-46A1-A83F-423BEF32B925}">
      <dgm:prSet/>
      <dgm:spPr>
        <a:solidFill>
          <a:schemeClr val="bg1">
            <a:lumMod val="85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IN" dirty="0" smtClean="0">
              <a:solidFill>
                <a:schemeClr val="tx1"/>
              </a:solidFill>
            </a:rPr>
            <a:t>Preventive care tips</a:t>
          </a:r>
          <a:endParaRPr lang="en-IN" dirty="0">
            <a:solidFill>
              <a:schemeClr val="tx1"/>
            </a:solidFill>
          </a:endParaRPr>
        </a:p>
      </dgm:t>
    </dgm:pt>
    <dgm:pt modelId="{10941C23-26A2-4F4F-8744-1E83FE09F017}" type="parTrans" cxnId="{B47021E3-B40C-4136-BA39-E8EF9ECB3272}">
      <dgm:prSet/>
      <dgm:spPr/>
      <dgm:t>
        <a:bodyPr/>
        <a:lstStyle/>
        <a:p>
          <a:endParaRPr lang="en-IN"/>
        </a:p>
      </dgm:t>
    </dgm:pt>
    <dgm:pt modelId="{7E54BEC9-678A-4992-ABEB-8A7F735BFDE2}" type="sibTrans" cxnId="{B47021E3-B40C-4136-BA39-E8EF9ECB3272}">
      <dgm:prSet/>
      <dgm:spPr/>
      <dgm:t>
        <a:bodyPr/>
        <a:lstStyle/>
        <a:p>
          <a:endParaRPr lang="en-IN"/>
        </a:p>
      </dgm:t>
    </dgm:pt>
    <dgm:pt modelId="{447BAB5D-8873-47D2-9DDC-E49C24215E6D}">
      <dgm:prSet/>
      <dgm:spPr>
        <a:solidFill>
          <a:schemeClr val="bg1">
            <a:lumMod val="85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IN" dirty="0" smtClean="0">
              <a:solidFill>
                <a:schemeClr val="tx1"/>
              </a:solidFill>
            </a:rPr>
            <a:t>Language Barriers → Multilingual support</a:t>
          </a:r>
          <a:endParaRPr lang="en-IN" dirty="0">
            <a:solidFill>
              <a:schemeClr val="tx1"/>
            </a:solidFill>
          </a:endParaRPr>
        </a:p>
      </dgm:t>
    </dgm:pt>
    <dgm:pt modelId="{54FEF19B-97E9-41BA-B56E-19A9A89755AF}" type="parTrans" cxnId="{45DC4641-7787-4B2C-A482-544DD3F0F5B4}">
      <dgm:prSet/>
      <dgm:spPr/>
      <dgm:t>
        <a:bodyPr/>
        <a:lstStyle/>
        <a:p>
          <a:endParaRPr lang="en-IN"/>
        </a:p>
      </dgm:t>
    </dgm:pt>
    <dgm:pt modelId="{0CE467C7-1EE9-473E-B4DC-06363219EDD0}" type="sibTrans" cxnId="{45DC4641-7787-4B2C-A482-544DD3F0F5B4}">
      <dgm:prSet/>
      <dgm:spPr/>
      <dgm:t>
        <a:bodyPr/>
        <a:lstStyle/>
        <a:p>
          <a:endParaRPr lang="en-IN"/>
        </a:p>
      </dgm:t>
    </dgm:pt>
    <dgm:pt modelId="{2A89B71F-15D5-4D06-975C-E695471A81C1}">
      <dgm:prSet/>
      <dgm:spPr>
        <a:solidFill>
          <a:schemeClr val="bg1">
            <a:lumMod val="85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IN" dirty="0" smtClean="0">
              <a:solidFill>
                <a:schemeClr val="tx1"/>
              </a:solidFill>
            </a:rPr>
            <a:t>Misinformation → Verified, govt.-aligned</a:t>
          </a:r>
          <a:endParaRPr lang="en-IN" dirty="0">
            <a:solidFill>
              <a:schemeClr val="tx1"/>
            </a:solidFill>
          </a:endParaRPr>
        </a:p>
      </dgm:t>
    </dgm:pt>
    <dgm:pt modelId="{AA69961A-D6AF-4853-A9F5-9795E8699404}" type="parTrans" cxnId="{BEB91B7F-7C52-4785-B38C-21042F9D0458}">
      <dgm:prSet/>
      <dgm:spPr/>
      <dgm:t>
        <a:bodyPr/>
        <a:lstStyle/>
        <a:p>
          <a:endParaRPr lang="en-IN"/>
        </a:p>
      </dgm:t>
    </dgm:pt>
    <dgm:pt modelId="{E1FAEE07-871F-4D0B-86FA-54C69C0967B2}" type="sibTrans" cxnId="{BEB91B7F-7C52-4785-B38C-21042F9D0458}">
      <dgm:prSet/>
      <dgm:spPr/>
      <dgm:t>
        <a:bodyPr/>
        <a:lstStyle/>
        <a:p>
          <a:endParaRPr lang="en-IN"/>
        </a:p>
      </dgm:t>
    </dgm:pt>
    <dgm:pt modelId="{EAFD0D5A-BD15-4547-90C2-4D59ED5C2A4E}">
      <dgm:prSet/>
      <dgm:spPr>
        <a:solidFill>
          <a:schemeClr val="bg1">
            <a:lumMod val="85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Accessible</a:t>
          </a:r>
          <a:r>
            <a:rPr lang="en-US" dirty="0" smtClean="0">
              <a:solidFill>
                <a:schemeClr val="tx1"/>
              </a:solidFill>
            </a:rPr>
            <a:t>: WhatsApp + SMS for all users</a:t>
          </a:r>
          <a:endParaRPr lang="en-US" dirty="0">
            <a:solidFill>
              <a:schemeClr val="tx1"/>
            </a:solidFill>
          </a:endParaRPr>
        </a:p>
      </dgm:t>
    </dgm:pt>
    <dgm:pt modelId="{68BF7BE8-D2BC-464B-AEE6-5F60C1955507}" type="parTrans" cxnId="{6C57F7EE-22AE-4944-B971-5385BEE01208}">
      <dgm:prSet/>
      <dgm:spPr/>
      <dgm:t>
        <a:bodyPr/>
        <a:lstStyle/>
        <a:p>
          <a:endParaRPr lang="en-IN"/>
        </a:p>
      </dgm:t>
    </dgm:pt>
    <dgm:pt modelId="{B5FCE38D-9097-4552-AD55-D398CD5D4CEB}" type="sibTrans" cxnId="{6C57F7EE-22AE-4944-B971-5385BEE01208}">
      <dgm:prSet/>
      <dgm:spPr/>
      <dgm:t>
        <a:bodyPr/>
        <a:lstStyle/>
        <a:p>
          <a:endParaRPr lang="en-IN"/>
        </a:p>
      </dgm:t>
    </dgm:pt>
    <dgm:pt modelId="{ACC34B7E-6409-4409-B714-F5387CA8AE43}">
      <dgm:prSet phldrT="[Text]"/>
      <dgm:spPr>
        <a:solidFill>
          <a:schemeClr val="bg1">
            <a:lumMod val="85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IN" dirty="0" smtClean="0">
              <a:solidFill>
                <a:schemeClr val="tx1"/>
              </a:solidFill>
            </a:rPr>
            <a:t>Reminders (vaccine, intake and stock of medicines)</a:t>
          </a:r>
          <a:endParaRPr lang="en-IN" dirty="0">
            <a:solidFill>
              <a:schemeClr val="tx1"/>
            </a:solidFill>
          </a:endParaRPr>
        </a:p>
      </dgm:t>
    </dgm:pt>
    <dgm:pt modelId="{DC19C4A8-EF6D-42C9-8BA3-A3C128E7D760}" type="parTrans" cxnId="{30E3B2BA-B467-44CF-80F0-403FFF61D525}">
      <dgm:prSet/>
      <dgm:spPr/>
    </dgm:pt>
    <dgm:pt modelId="{BF0EC415-E2FA-4C02-8746-1A09B7889828}" type="sibTrans" cxnId="{30E3B2BA-B467-44CF-80F0-403FFF61D525}">
      <dgm:prSet/>
      <dgm:spPr/>
    </dgm:pt>
    <dgm:pt modelId="{669A2347-46F6-4ACE-A294-858C5F75A9BB}" type="pres">
      <dgm:prSet presAssocID="{3D40CD57-8104-475F-BBE7-80A18E738431}" presName="linearFlow" presStyleCnt="0">
        <dgm:presLayoutVars>
          <dgm:dir/>
          <dgm:animLvl val="lvl"/>
          <dgm:resizeHandles/>
        </dgm:presLayoutVars>
      </dgm:prSet>
      <dgm:spPr/>
    </dgm:pt>
    <dgm:pt modelId="{DDE9F6E0-A95A-407D-AF6F-ADE2450EA9E0}" type="pres">
      <dgm:prSet presAssocID="{9F973E6B-B3BF-4656-9258-AFE24A8D29D4}" presName="compositeNode" presStyleCnt="0">
        <dgm:presLayoutVars>
          <dgm:bulletEnabled val="1"/>
        </dgm:presLayoutVars>
      </dgm:prSet>
      <dgm:spPr/>
    </dgm:pt>
    <dgm:pt modelId="{4E83C7C2-2F93-471D-8F47-00A21FDAB483}" type="pres">
      <dgm:prSet presAssocID="{9F973E6B-B3BF-4656-9258-AFE24A8D29D4}" presName="image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000" r="-9000"/>
          </a:stretch>
        </a:blip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E63EBF69-38D2-4E85-B0A4-10E0964CA82B}" type="pres">
      <dgm:prSet presAssocID="{9F973E6B-B3BF-4656-9258-AFE24A8D29D4}" presName="child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C56FEC5-2F0D-4B54-9CFB-E036D8C46E42}" type="pres">
      <dgm:prSet presAssocID="{9F973E6B-B3BF-4656-9258-AFE24A8D29D4}" presName="parentNode" presStyleLbl="revTx" presStyleIdx="0" presStyleCnt="3">
        <dgm:presLayoutVars>
          <dgm:chMax val="0"/>
          <dgm:bulletEnabled val="1"/>
        </dgm:presLayoutVars>
      </dgm:prSet>
      <dgm:spPr/>
    </dgm:pt>
    <dgm:pt modelId="{EEBF2AA1-E1F2-45CE-BD05-D6F2B73E5435}" type="pres">
      <dgm:prSet presAssocID="{C46F8777-DC78-4803-BAE2-A8B4D09B732E}" presName="sibTrans" presStyleCnt="0"/>
      <dgm:spPr/>
    </dgm:pt>
    <dgm:pt modelId="{8602935F-84D6-4014-B3AD-865020A7D1BA}" type="pres">
      <dgm:prSet presAssocID="{2951A0E0-866C-42A7-9E69-E96A6A32E3B0}" presName="compositeNode" presStyleCnt="0">
        <dgm:presLayoutVars>
          <dgm:bulletEnabled val="1"/>
        </dgm:presLayoutVars>
      </dgm:prSet>
      <dgm:spPr/>
    </dgm:pt>
    <dgm:pt modelId="{82F4AE67-0989-41D2-85AE-DB9275C9D3F4}" type="pres">
      <dgm:prSet presAssocID="{2951A0E0-866C-42A7-9E69-E96A6A32E3B0}" presName="image" presStyleLbl="f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5E932A37-7A41-40DA-BC05-C94D8C01C192}" type="pres">
      <dgm:prSet presAssocID="{2951A0E0-866C-42A7-9E69-E96A6A32E3B0}" presName="child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AAD6A3F-C9AD-415A-B4D3-BAB4AB17A8C2}" type="pres">
      <dgm:prSet presAssocID="{2951A0E0-866C-42A7-9E69-E96A6A32E3B0}" presName="parentNode" presStyleLbl="revTx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93E961C-654F-4A55-80FD-29D9E6020141}" type="pres">
      <dgm:prSet presAssocID="{E333DBAB-8C9D-4F18-AC17-4D243AA66CCE}" presName="sibTrans" presStyleCnt="0"/>
      <dgm:spPr/>
    </dgm:pt>
    <dgm:pt modelId="{0721AB9A-E42C-4F41-B66C-CC5CBA3863AB}" type="pres">
      <dgm:prSet presAssocID="{E62BBD69-152C-4C6F-A7CE-4A6FC261718B}" presName="compositeNode" presStyleCnt="0">
        <dgm:presLayoutVars>
          <dgm:bulletEnabled val="1"/>
        </dgm:presLayoutVars>
      </dgm:prSet>
      <dgm:spPr/>
    </dgm:pt>
    <dgm:pt modelId="{298C587B-D8ED-4F3F-BD07-B1A317F364C0}" type="pres">
      <dgm:prSet presAssocID="{E62BBD69-152C-4C6F-A7CE-4A6FC261718B}" presName="image" presStyleLbl="f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A224ED1C-2240-4EFC-831C-6349327AD7BA}" type="pres">
      <dgm:prSet presAssocID="{E62BBD69-152C-4C6F-A7CE-4A6FC261718B}" presName="child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B3C47D6-8DBB-48B0-80B9-3ED4F512594C}" type="pres">
      <dgm:prSet presAssocID="{E62BBD69-152C-4C6F-A7CE-4A6FC261718B}" presName="parentNode" presStyleLbl="revTx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32C73B8F-9755-488F-A1AB-B4133218B633}" type="presOf" srcId="{3AE2D67A-416F-4AE7-BB67-706B47BDB628}" destId="{E63EBF69-38D2-4E85-B0A4-10E0964CA82B}" srcOrd="0" destOrd="0" presId="urn:microsoft.com/office/officeart/2005/8/layout/hList2"/>
    <dgm:cxn modelId="{625DB257-5F98-4DC5-AA9D-42CC59332D45}" type="presOf" srcId="{3D40CD57-8104-475F-BBE7-80A18E738431}" destId="{669A2347-46F6-4ACE-A294-858C5F75A9BB}" srcOrd="0" destOrd="0" presId="urn:microsoft.com/office/officeart/2005/8/layout/hList2"/>
    <dgm:cxn modelId="{B0AE2A20-B6FA-4DEC-A0A8-18B2729EF96F}" type="presOf" srcId="{9F973E6B-B3BF-4656-9258-AFE24A8D29D4}" destId="{4C56FEC5-2F0D-4B54-9CFB-E036D8C46E42}" srcOrd="0" destOrd="0" presId="urn:microsoft.com/office/officeart/2005/8/layout/hList2"/>
    <dgm:cxn modelId="{0A579ACF-CCF6-4744-B4E2-BD55606F410A}" srcId="{3D40CD57-8104-475F-BBE7-80A18E738431}" destId="{9F973E6B-B3BF-4656-9258-AFE24A8D29D4}" srcOrd="0" destOrd="0" parTransId="{2E5D445E-F383-47A5-B542-926AB8C0F9D4}" sibTransId="{C46F8777-DC78-4803-BAE2-A8B4D09B732E}"/>
    <dgm:cxn modelId="{EDC985F6-A30D-411E-BAE5-52A6D24B28F4}" type="presOf" srcId="{2951A0E0-866C-42A7-9E69-E96A6A32E3B0}" destId="{AAAD6A3F-C9AD-415A-B4D3-BAB4AB17A8C2}" srcOrd="0" destOrd="0" presId="urn:microsoft.com/office/officeart/2005/8/layout/hList2"/>
    <dgm:cxn modelId="{BEB91B7F-7C52-4785-B38C-21042F9D0458}" srcId="{2951A0E0-866C-42A7-9E69-E96A6A32E3B0}" destId="{2A89B71F-15D5-4D06-975C-E695471A81C1}" srcOrd="2" destOrd="0" parTransId="{AA69961A-D6AF-4853-A9F5-9795E8699404}" sibTransId="{E1FAEE07-871F-4D0B-86FA-54C69C0967B2}"/>
    <dgm:cxn modelId="{62010B65-A652-492F-88C8-05B9003B88DC}" type="presOf" srcId="{A5FF734A-5626-46A1-A83F-423BEF32B925}" destId="{E63EBF69-38D2-4E85-B0A4-10E0964CA82B}" srcOrd="0" destOrd="3" presId="urn:microsoft.com/office/officeart/2005/8/layout/hList2"/>
    <dgm:cxn modelId="{30E3B2BA-B467-44CF-80F0-403FFF61D525}" srcId="{9F973E6B-B3BF-4656-9258-AFE24A8D29D4}" destId="{ACC34B7E-6409-4409-B714-F5387CA8AE43}" srcOrd="1" destOrd="0" parTransId="{DC19C4A8-EF6D-42C9-8BA3-A3C128E7D760}" sibTransId="{BF0EC415-E2FA-4C02-8746-1A09B7889828}"/>
    <dgm:cxn modelId="{0FA82F1F-01F1-4A4E-915A-C4D89B4A1908}" type="presOf" srcId="{447BAB5D-8873-47D2-9DDC-E49C24215E6D}" destId="{5E932A37-7A41-40DA-BC05-C94D8C01C192}" srcOrd="0" destOrd="1" presId="urn:microsoft.com/office/officeart/2005/8/layout/hList2"/>
    <dgm:cxn modelId="{9919D3B8-CC3A-45C5-858D-3ECBE86BAF5B}" type="presOf" srcId="{ACC34B7E-6409-4409-B714-F5387CA8AE43}" destId="{E63EBF69-38D2-4E85-B0A4-10E0964CA82B}" srcOrd="0" destOrd="1" presId="urn:microsoft.com/office/officeart/2005/8/layout/hList2"/>
    <dgm:cxn modelId="{40E3EA41-9779-463E-B56F-AC58C31E5760}" type="presOf" srcId="{5C71D483-78B1-4C74-A1FF-75A5D78BF5B5}" destId="{5E932A37-7A41-40DA-BC05-C94D8C01C192}" srcOrd="0" destOrd="0" presId="urn:microsoft.com/office/officeart/2005/8/layout/hList2"/>
    <dgm:cxn modelId="{20DA323F-369A-497C-A778-1251E9CD859D}" srcId="{E62BBD69-152C-4C6F-A7CE-4A6FC261718B}" destId="{70D2E01F-BE06-406D-86CA-02231E573AF1}" srcOrd="0" destOrd="0" parTransId="{657CFCFB-7B9C-4F16-BDBB-6044E3365ADA}" sibTransId="{98584BB5-CACA-4EF6-88D0-87AA90BD63C1}"/>
    <dgm:cxn modelId="{3F92174C-1FB7-4E8A-93D5-810C11F94F4D}" type="presOf" srcId="{E62BBD69-152C-4C6F-A7CE-4A6FC261718B}" destId="{AB3C47D6-8DBB-48B0-80B9-3ED4F512594C}" srcOrd="0" destOrd="0" presId="urn:microsoft.com/office/officeart/2005/8/layout/hList2"/>
    <dgm:cxn modelId="{FB6A2843-D92F-441E-A408-EF4305970EF9}" srcId="{3D40CD57-8104-475F-BBE7-80A18E738431}" destId="{2951A0E0-866C-42A7-9E69-E96A6A32E3B0}" srcOrd="1" destOrd="0" parTransId="{A4875FD3-4BDA-4D6C-8006-6F6AFCF92039}" sibTransId="{E333DBAB-8C9D-4F18-AC17-4D243AA66CCE}"/>
    <dgm:cxn modelId="{6235D0F5-5412-485B-97DB-E27E002E0108}" srcId="{9F973E6B-B3BF-4656-9258-AFE24A8D29D4}" destId="{3AE2D67A-416F-4AE7-BB67-706B47BDB628}" srcOrd="0" destOrd="0" parTransId="{46B2B9B4-A114-403F-B4D9-32EA87453079}" sibTransId="{5915C5DA-85E6-46A8-8D5E-DE466945AC17}"/>
    <dgm:cxn modelId="{BCADCAB2-4AFE-4D6C-A02A-E168C62A3264}" type="presOf" srcId="{70D2E01F-BE06-406D-86CA-02231E573AF1}" destId="{A224ED1C-2240-4EFC-831C-6349327AD7BA}" srcOrd="0" destOrd="0" presId="urn:microsoft.com/office/officeart/2005/8/layout/hList2"/>
    <dgm:cxn modelId="{5D121A5E-9889-4F2F-9EC4-35423D691FD5}" type="presOf" srcId="{18F557A0-EEDD-4524-9438-EBBF224F3EC1}" destId="{E63EBF69-38D2-4E85-B0A4-10E0964CA82B}" srcOrd="0" destOrd="2" presId="urn:microsoft.com/office/officeart/2005/8/layout/hList2"/>
    <dgm:cxn modelId="{6C57F7EE-22AE-4944-B971-5385BEE01208}" srcId="{E62BBD69-152C-4C6F-A7CE-4A6FC261718B}" destId="{EAFD0D5A-BD15-4547-90C2-4D59ED5C2A4E}" srcOrd="1" destOrd="0" parTransId="{68BF7BE8-D2BC-464B-AEE6-5F60C1955507}" sibTransId="{B5FCE38D-9097-4552-AD55-D398CD5D4CEB}"/>
    <dgm:cxn modelId="{68F5018A-AF15-4D93-A268-FF194CAC11DF}" type="presOf" srcId="{EAFD0D5A-BD15-4547-90C2-4D59ED5C2A4E}" destId="{A224ED1C-2240-4EFC-831C-6349327AD7BA}" srcOrd="0" destOrd="1" presId="urn:microsoft.com/office/officeart/2005/8/layout/hList2"/>
    <dgm:cxn modelId="{CCD14410-C53A-429F-B252-468B8716EBB8}" srcId="{9F973E6B-B3BF-4656-9258-AFE24A8D29D4}" destId="{18F557A0-EEDD-4524-9438-EBBF224F3EC1}" srcOrd="2" destOrd="0" parTransId="{5F90092F-2EC4-4FF2-8E8E-49810FB8C013}" sibTransId="{3565B8EA-7CF1-47DA-8EEB-38BF53DF560B}"/>
    <dgm:cxn modelId="{9F5A4A1D-9C97-4E29-BB47-B3B80B753424}" type="presOf" srcId="{2A89B71F-15D5-4D06-975C-E695471A81C1}" destId="{5E932A37-7A41-40DA-BC05-C94D8C01C192}" srcOrd="0" destOrd="2" presId="urn:microsoft.com/office/officeart/2005/8/layout/hList2"/>
    <dgm:cxn modelId="{DF915ADE-92EC-4FD1-BA59-4B046FCC7FCC}" srcId="{3D40CD57-8104-475F-BBE7-80A18E738431}" destId="{E62BBD69-152C-4C6F-A7CE-4A6FC261718B}" srcOrd="2" destOrd="0" parTransId="{70DCF679-6D60-4D2B-8F51-081E9BBBDD18}" sibTransId="{85541E6E-6547-40C4-BCF7-FF686737BB3D}"/>
    <dgm:cxn modelId="{B47021E3-B40C-4136-BA39-E8EF9ECB3272}" srcId="{9F973E6B-B3BF-4656-9258-AFE24A8D29D4}" destId="{A5FF734A-5626-46A1-A83F-423BEF32B925}" srcOrd="3" destOrd="0" parTransId="{10941C23-26A2-4F4F-8744-1E83FE09F017}" sibTransId="{7E54BEC9-678A-4992-ABEB-8A7F735BFDE2}"/>
    <dgm:cxn modelId="{2EEDC095-021A-4DEF-B8E4-6D935E050FD9}" srcId="{2951A0E0-866C-42A7-9E69-E96A6A32E3B0}" destId="{5C71D483-78B1-4C74-A1FF-75A5D78BF5B5}" srcOrd="0" destOrd="0" parTransId="{6BC554D3-3D2C-4149-9747-7C0FFD5FBD79}" sibTransId="{698C06E1-E5B9-4CD9-9763-054D8D6D24CD}"/>
    <dgm:cxn modelId="{45DC4641-7787-4B2C-A482-544DD3F0F5B4}" srcId="{2951A0E0-866C-42A7-9E69-E96A6A32E3B0}" destId="{447BAB5D-8873-47D2-9DDC-E49C24215E6D}" srcOrd="1" destOrd="0" parTransId="{54FEF19B-97E9-41BA-B56E-19A9A89755AF}" sibTransId="{0CE467C7-1EE9-473E-B4DC-06363219EDD0}"/>
    <dgm:cxn modelId="{E1EDC4CB-1B28-419F-BE82-A40CEBBF7ABB}" type="presParOf" srcId="{669A2347-46F6-4ACE-A294-858C5F75A9BB}" destId="{DDE9F6E0-A95A-407D-AF6F-ADE2450EA9E0}" srcOrd="0" destOrd="0" presId="urn:microsoft.com/office/officeart/2005/8/layout/hList2"/>
    <dgm:cxn modelId="{31E2C3BA-B76F-4BF5-A0D7-EF8657AE7C86}" type="presParOf" srcId="{DDE9F6E0-A95A-407D-AF6F-ADE2450EA9E0}" destId="{4E83C7C2-2F93-471D-8F47-00A21FDAB483}" srcOrd="0" destOrd="0" presId="urn:microsoft.com/office/officeart/2005/8/layout/hList2"/>
    <dgm:cxn modelId="{D3F20AA3-8212-4B2A-9C98-6BD22A7886D9}" type="presParOf" srcId="{DDE9F6E0-A95A-407D-AF6F-ADE2450EA9E0}" destId="{E63EBF69-38D2-4E85-B0A4-10E0964CA82B}" srcOrd="1" destOrd="0" presId="urn:microsoft.com/office/officeart/2005/8/layout/hList2"/>
    <dgm:cxn modelId="{A7A80E04-724A-4DEE-9646-FB7F8418B3B3}" type="presParOf" srcId="{DDE9F6E0-A95A-407D-AF6F-ADE2450EA9E0}" destId="{4C56FEC5-2F0D-4B54-9CFB-E036D8C46E42}" srcOrd="2" destOrd="0" presId="urn:microsoft.com/office/officeart/2005/8/layout/hList2"/>
    <dgm:cxn modelId="{0BE5A922-47B6-4F8D-80A5-FAF00B32C21A}" type="presParOf" srcId="{669A2347-46F6-4ACE-A294-858C5F75A9BB}" destId="{EEBF2AA1-E1F2-45CE-BD05-D6F2B73E5435}" srcOrd="1" destOrd="0" presId="urn:microsoft.com/office/officeart/2005/8/layout/hList2"/>
    <dgm:cxn modelId="{204FEFCC-8643-4963-ADE3-B754E46D8132}" type="presParOf" srcId="{669A2347-46F6-4ACE-A294-858C5F75A9BB}" destId="{8602935F-84D6-4014-B3AD-865020A7D1BA}" srcOrd="2" destOrd="0" presId="urn:microsoft.com/office/officeart/2005/8/layout/hList2"/>
    <dgm:cxn modelId="{54075462-61B3-4201-BBB2-31EA8214CCA4}" type="presParOf" srcId="{8602935F-84D6-4014-B3AD-865020A7D1BA}" destId="{82F4AE67-0989-41D2-85AE-DB9275C9D3F4}" srcOrd="0" destOrd="0" presId="urn:microsoft.com/office/officeart/2005/8/layout/hList2"/>
    <dgm:cxn modelId="{DFEC2244-536C-41F8-A968-31A88D1FDA96}" type="presParOf" srcId="{8602935F-84D6-4014-B3AD-865020A7D1BA}" destId="{5E932A37-7A41-40DA-BC05-C94D8C01C192}" srcOrd="1" destOrd="0" presId="urn:microsoft.com/office/officeart/2005/8/layout/hList2"/>
    <dgm:cxn modelId="{DA45CE45-E126-4CE3-8601-A210E33B01C8}" type="presParOf" srcId="{8602935F-84D6-4014-B3AD-865020A7D1BA}" destId="{AAAD6A3F-C9AD-415A-B4D3-BAB4AB17A8C2}" srcOrd="2" destOrd="0" presId="urn:microsoft.com/office/officeart/2005/8/layout/hList2"/>
    <dgm:cxn modelId="{E73BB1A4-F759-4574-8D38-A6C65B1DB125}" type="presParOf" srcId="{669A2347-46F6-4ACE-A294-858C5F75A9BB}" destId="{193E961C-654F-4A55-80FD-29D9E6020141}" srcOrd="3" destOrd="0" presId="urn:microsoft.com/office/officeart/2005/8/layout/hList2"/>
    <dgm:cxn modelId="{9A8CBD70-AE77-439B-88D8-3A0188663F4C}" type="presParOf" srcId="{669A2347-46F6-4ACE-A294-858C5F75A9BB}" destId="{0721AB9A-E42C-4F41-B66C-CC5CBA3863AB}" srcOrd="4" destOrd="0" presId="urn:microsoft.com/office/officeart/2005/8/layout/hList2"/>
    <dgm:cxn modelId="{585628BB-CA69-400C-A850-39D68F0FF857}" type="presParOf" srcId="{0721AB9A-E42C-4F41-B66C-CC5CBA3863AB}" destId="{298C587B-D8ED-4F3F-BD07-B1A317F364C0}" srcOrd="0" destOrd="0" presId="urn:microsoft.com/office/officeart/2005/8/layout/hList2"/>
    <dgm:cxn modelId="{25060B1C-1D4F-4D29-802A-9EAFA11E753B}" type="presParOf" srcId="{0721AB9A-E42C-4F41-B66C-CC5CBA3863AB}" destId="{A224ED1C-2240-4EFC-831C-6349327AD7BA}" srcOrd="1" destOrd="0" presId="urn:microsoft.com/office/officeart/2005/8/layout/hList2"/>
    <dgm:cxn modelId="{69036E83-B61F-4ED5-B5CA-87001CAED129}" type="presParOf" srcId="{0721AB9A-E42C-4F41-B66C-CC5CBA3863AB}" destId="{AB3C47D6-8DBB-48B0-80B9-3ED4F512594C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56FEC5-2F0D-4B54-9CFB-E036D8C46E42}">
      <dsp:nvSpPr>
        <dsp:cNvPr id="0" name=""/>
        <dsp:cNvSpPr/>
      </dsp:nvSpPr>
      <dsp:spPr>
        <a:xfrm rot="16200000">
          <a:off x="-1867795" y="2772097"/>
          <a:ext cx="4226560" cy="392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45967" bIns="0" numCol="1" spcCol="1270" anchor="t" anchorCtr="0">
          <a:noAutofit/>
        </a:bodyPr>
        <a:lstStyle/>
        <a:p>
          <a:pPr lvl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800" kern="1200" dirty="0" smtClean="0"/>
            <a:t>Features</a:t>
          </a:r>
          <a:endParaRPr lang="en-IN" sz="2800" kern="1200" dirty="0"/>
        </a:p>
      </dsp:txBody>
      <dsp:txXfrm>
        <a:off x="-1867795" y="2772097"/>
        <a:ext cx="4226560" cy="392277"/>
      </dsp:txXfrm>
    </dsp:sp>
    <dsp:sp modelId="{E63EBF69-38D2-4E85-B0A4-10E0964CA82B}">
      <dsp:nvSpPr>
        <dsp:cNvPr id="0" name=""/>
        <dsp:cNvSpPr/>
      </dsp:nvSpPr>
      <dsp:spPr>
        <a:xfrm>
          <a:off x="441623" y="854956"/>
          <a:ext cx="1953958" cy="4226560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345967" rIns="163576" bIns="16357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 dirty="0" smtClean="0">
              <a:solidFill>
                <a:schemeClr val="tx1"/>
              </a:solidFill>
            </a:rPr>
            <a:t>Symptom guidance &amp; care advice</a:t>
          </a:r>
          <a:endParaRPr lang="en-IN" sz="1800" kern="1200" dirty="0">
            <a:solidFill>
              <a:schemeClr val="tx1"/>
            </a:solidFill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 dirty="0" smtClean="0">
              <a:solidFill>
                <a:schemeClr val="tx1"/>
              </a:solidFill>
            </a:rPr>
            <a:t>Reminders (vaccine, intake and stock of medicines)</a:t>
          </a:r>
          <a:endParaRPr lang="en-IN" sz="1800" kern="1200" dirty="0">
            <a:solidFill>
              <a:schemeClr val="tx1"/>
            </a:solidFill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 dirty="0" smtClean="0">
              <a:solidFill>
                <a:schemeClr val="tx1"/>
              </a:solidFill>
            </a:rPr>
            <a:t>Outbreak alerts (govt. DBs)</a:t>
          </a:r>
          <a:endParaRPr lang="en-IN" sz="1800" kern="1200" dirty="0">
            <a:solidFill>
              <a:schemeClr val="tx1"/>
            </a:solidFill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 dirty="0" smtClean="0">
              <a:solidFill>
                <a:schemeClr val="tx1"/>
              </a:solidFill>
            </a:rPr>
            <a:t>Preventive care tips</a:t>
          </a:r>
          <a:endParaRPr lang="en-IN" sz="1800" kern="1200" dirty="0">
            <a:solidFill>
              <a:schemeClr val="tx1"/>
            </a:solidFill>
          </a:endParaRPr>
        </a:p>
      </dsp:txBody>
      <dsp:txXfrm>
        <a:off x="441623" y="854956"/>
        <a:ext cx="1953958" cy="4226560"/>
      </dsp:txXfrm>
    </dsp:sp>
    <dsp:sp modelId="{4E83C7C2-2F93-471D-8F47-00A21FDAB483}">
      <dsp:nvSpPr>
        <dsp:cNvPr id="0" name=""/>
        <dsp:cNvSpPr/>
      </dsp:nvSpPr>
      <dsp:spPr>
        <a:xfrm>
          <a:off x="49345" y="337150"/>
          <a:ext cx="784555" cy="7845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000" r="-9000"/>
          </a:stretch>
        </a:blipFill>
        <a:ln w="25400" cap="flat" cmpd="sng" algn="ctr">
          <a:noFill/>
          <a:prstDash val="solid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AD6A3F-C9AD-415A-B4D3-BAB4AB17A8C2}">
      <dsp:nvSpPr>
        <dsp:cNvPr id="0" name=""/>
        <dsp:cNvSpPr/>
      </dsp:nvSpPr>
      <dsp:spPr>
        <a:xfrm rot="16200000">
          <a:off x="973740" y="2772097"/>
          <a:ext cx="4226560" cy="392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45967" bIns="0" numCol="1" spcCol="1270" anchor="t" anchorCtr="0">
          <a:noAutofit/>
        </a:bodyPr>
        <a:lstStyle/>
        <a:p>
          <a:pPr lvl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800" kern="1200" dirty="0" smtClean="0"/>
            <a:t>Problem -&gt; Solution</a:t>
          </a:r>
          <a:endParaRPr lang="en-IN" sz="2800" kern="1200" dirty="0"/>
        </a:p>
      </dsp:txBody>
      <dsp:txXfrm>
        <a:off x="973740" y="2772097"/>
        <a:ext cx="4226560" cy="392277"/>
      </dsp:txXfrm>
    </dsp:sp>
    <dsp:sp modelId="{5E932A37-7A41-40DA-BC05-C94D8C01C192}">
      <dsp:nvSpPr>
        <dsp:cNvPr id="0" name=""/>
        <dsp:cNvSpPr/>
      </dsp:nvSpPr>
      <dsp:spPr>
        <a:xfrm>
          <a:off x="3283159" y="854956"/>
          <a:ext cx="1953958" cy="4226560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345967" rIns="163576" bIns="16357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 dirty="0" smtClean="0">
              <a:solidFill>
                <a:schemeClr val="tx1"/>
              </a:solidFill>
            </a:rPr>
            <a:t>Info Gap → 24/7 trusted info</a:t>
          </a:r>
          <a:endParaRPr lang="en-IN" sz="1800" kern="1200" dirty="0">
            <a:solidFill>
              <a:schemeClr val="tx1"/>
            </a:solidFill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 dirty="0" smtClean="0">
              <a:solidFill>
                <a:schemeClr val="tx1"/>
              </a:solidFill>
            </a:rPr>
            <a:t>Language Barriers → Multilingual support</a:t>
          </a:r>
          <a:endParaRPr lang="en-IN" sz="1800" kern="1200" dirty="0">
            <a:solidFill>
              <a:schemeClr val="tx1"/>
            </a:solidFill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 dirty="0" smtClean="0">
              <a:solidFill>
                <a:schemeClr val="tx1"/>
              </a:solidFill>
            </a:rPr>
            <a:t>Misinformation → Verified, govt.-aligned</a:t>
          </a:r>
          <a:endParaRPr lang="en-IN" sz="1800" kern="1200" dirty="0">
            <a:solidFill>
              <a:schemeClr val="tx1"/>
            </a:solidFill>
          </a:endParaRPr>
        </a:p>
      </dsp:txBody>
      <dsp:txXfrm>
        <a:off x="3283159" y="854956"/>
        <a:ext cx="1953958" cy="4226560"/>
      </dsp:txXfrm>
    </dsp:sp>
    <dsp:sp modelId="{82F4AE67-0989-41D2-85AE-DB9275C9D3F4}">
      <dsp:nvSpPr>
        <dsp:cNvPr id="0" name=""/>
        <dsp:cNvSpPr/>
      </dsp:nvSpPr>
      <dsp:spPr>
        <a:xfrm>
          <a:off x="2890881" y="337150"/>
          <a:ext cx="784555" cy="784555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3C47D6-8DBB-48B0-80B9-3ED4F512594C}">
      <dsp:nvSpPr>
        <dsp:cNvPr id="0" name=""/>
        <dsp:cNvSpPr/>
      </dsp:nvSpPr>
      <dsp:spPr>
        <a:xfrm rot="16200000">
          <a:off x="3815276" y="2772097"/>
          <a:ext cx="4226560" cy="392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45967" bIns="0" numCol="1" spcCol="1270" anchor="t" anchorCtr="0">
          <a:noAutofit/>
        </a:bodyPr>
        <a:lstStyle/>
        <a:p>
          <a:pPr lvl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800" kern="1200" dirty="0" smtClean="0"/>
            <a:t>Unique Value</a:t>
          </a:r>
          <a:endParaRPr lang="en-IN" sz="2800" kern="1200" dirty="0"/>
        </a:p>
      </dsp:txBody>
      <dsp:txXfrm>
        <a:off x="3815276" y="2772097"/>
        <a:ext cx="4226560" cy="392277"/>
      </dsp:txXfrm>
    </dsp:sp>
    <dsp:sp modelId="{A224ED1C-2240-4EFC-831C-6349327AD7BA}">
      <dsp:nvSpPr>
        <dsp:cNvPr id="0" name=""/>
        <dsp:cNvSpPr/>
      </dsp:nvSpPr>
      <dsp:spPr>
        <a:xfrm>
          <a:off x="6124695" y="854956"/>
          <a:ext cx="1953958" cy="4226560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345967" rIns="163576" bIns="16357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b="1" kern="1200" dirty="0" smtClean="0">
              <a:solidFill>
                <a:schemeClr val="tx1"/>
              </a:solidFill>
            </a:rPr>
            <a:t>Proactive</a:t>
          </a:r>
          <a:r>
            <a:rPr lang="en-IN" sz="1800" kern="1200" dirty="0" smtClean="0">
              <a:solidFill>
                <a:schemeClr val="tx1"/>
              </a:solidFill>
            </a:rPr>
            <a:t>: API-integrated, hyper-local alerts</a:t>
          </a:r>
          <a:endParaRPr lang="en-IN" sz="1800" kern="1200" dirty="0">
            <a:solidFill>
              <a:schemeClr val="tx1"/>
            </a:solidFill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b="1" kern="1200" dirty="0" smtClean="0">
              <a:solidFill>
                <a:schemeClr val="tx1"/>
              </a:solidFill>
            </a:rPr>
            <a:t>Accessible</a:t>
          </a:r>
          <a:r>
            <a:rPr lang="en-US" sz="1800" kern="1200" dirty="0" smtClean="0">
              <a:solidFill>
                <a:schemeClr val="tx1"/>
              </a:solidFill>
            </a:rPr>
            <a:t>: WhatsApp + SMS for all users</a:t>
          </a:r>
          <a:endParaRPr lang="en-US" sz="1800" kern="1200" dirty="0">
            <a:solidFill>
              <a:schemeClr val="tx1"/>
            </a:solidFill>
          </a:endParaRPr>
        </a:p>
      </dsp:txBody>
      <dsp:txXfrm>
        <a:off x="6124695" y="854956"/>
        <a:ext cx="1953958" cy="4226560"/>
      </dsp:txXfrm>
    </dsp:sp>
    <dsp:sp modelId="{298C587B-D8ED-4F3F-BD07-B1A317F364C0}">
      <dsp:nvSpPr>
        <dsp:cNvPr id="0" name=""/>
        <dsp:cNvSpPr/>
      </dsp:nvSpPr>
      <dsp:spPr>
        <a:xfrm>
          <a:off x="5732418" y="337150"/>
          <a:ext cx="784555" cy="7845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9/20/2025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9/20/2025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idsp.mohfw.gov.in/" TargetMode="External"/><Relationship Id="rId7" Type="http://schemas.openxmlformats.org/officeDocument/2006/relationships/hyperlink" Target="https://www.who.int/health-topics/digital-health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rai.gov.in/release-publication/reports/telecom-subscriptions-reports" TargetMode="External"/><Relationship Id="rId5" Type="http://schemas.openxmlformats.org/officeDocument/2006/relationships/hyperlink" Target="https://abha.abdm.gov.in/abha/v3/" TargetMode="External"/><Relationship Id="rId4" Type="http://schemas.openxmlformats.org/officeDocument/2006/relationships/hyperlink" Target="https://mohfw.gov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xmlns="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xmlns="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669699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9890" y="2180700"/>
            <a:ext cx="6358515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–SIH25049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Title-</a:t>
            </a:r>
            <a:r>
              <a:rPr lang="en-US" dirty="0">
                <a:latin typeface="montserratregular"/>
              </a:rPr>
              <a:t>Al-Driven Public Health </a:t>
            </a:r>
            <a:r>
              <a:rPr lang="en-US" dirty="0" err="1">
                <a:latin typeface="montserratregular"/>
              </a:rPr>
              <a:t>Chatbot</a:t>
            </a:r>
            <a:r>
              <a:rPr lang="en-US" dirty="0">
                <a:latin typeface="montserratregular"/>
              </a:rPr>
              <a:t> for Disease Awareness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IN" dirty="0" err="1"/>
              <a:t>MedTech</a:t>
            </a:r>
            <a:r>
              <a:rPr lang="en-IN" dirty="0"/>
              <a:t> / </a:t>
            </a:r>
            <a:r>
              <a:rPr lang="en-IN" dirty="0" err="1"/>
              <a:t>BioTech</a:t>
            </a:r>
            <a:r>
              <a:rPr lang="en-IN" dirty="0"/>
              <a:t> / </a:t>
            </a:r>
            <a:r>
              <a:rPr lang="en-IN" dirty="0" err="1"/>
              <a:t>HealthTech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 smtClean="0">
                <a:latin typeface="Arial" panose="020B0604020202020204" pitchFamily="34" charset="0"/>
                <a:cs typeface="Arial" panose="020B0604020202020204" pitchFamily="34" charset="0"/>
              </a:rPr>
              <a:t>DEV-RAG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DEV-RAG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371047184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DEV-RAG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78207"/>
              </p:ext>
            </p:extLst>
          </p:nvPr>
        </p:nvGraphicFramePr>
        <p:xfrm>
          <a:off x="609600" y="1599089"/>
          <a:ext cx="10972800" cy="402336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Technology / Process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1. User Interface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WhatsApp Business API &amp; Twilio SMS 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Enables users to interact via chat on any mobile phone, from basic to smart.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2. Core Logic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NLP Engine:</a:t>
                      </a:r>
                      <a:r>
                        <a:rPr lang="en-IN" dirty="0"/>
                        <a:t> Rasa / </a:t>
                      </a:r>
                      <a:r>
                        <a:rPr lang="en-IN" dirty="0" err="1"/>
                        <a:t>Dialogflow</a:t>
                      </a:r>
                      <a:r>
                        <a:rPr lang="en-IN" dirty="0"/>
                        <a:t> </a:t>
                      </a:r>
                      <a:r>
                        <a:rPr lang="en-IN" b="1" dirty="0"/>
                        <a:t>Backend:</a:t>
                      </a:r>
                      <a:r>
                        <a:rPr lang="en-IN" dirty="0"/>
                        <a:t> Python (Flask)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To accurately understand user queries in multiple Indian languages and process the request logic.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3. Data Layer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Databases:</a:t>
                      </a:r>
                      <a:r>
                        <a:rPr lang="en-US" dirty="0"/>
                        <a:t> PostgreSQL &amp; MongoDB </a:t>
                      </a:r>
                      <a:r>
                        <a:rPr lang="en-US" b="1" dirty="0"/>
                        <a:t>APIs:</a:t>
                      </a:r>
                      <a:r>
                        <a:rPr lang="en-US" dirty="0"/>
                        <a:t> Government Health Portals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store our vetted health information and retrieve live, official data like outbreak alerts.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4. Deployment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Infrastructure:</a:t>
                      </a:r>
                      <a:r>
                        <a:rPr lang="en-IN" dirty="0"/>
                        <a:t> Docker &amp; AWS / Google Cloud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ensure the </a:t>
                      </a:r>
                      <a:r>
                        <a:rPr lang="en-US" dirty="0" err="1"/>
                        <a:t>chatbot</a:t>
                      </a:r>
                      <a:r>
                        <a:rPr lang="en-US" dirty="0"/>
                        <a:t> is scalable, secure, and available 24/7 to all users.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DEV-RAG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609600" y="1720840"/>
            <a:ext cx="1082501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/>
              <a:t>❖ Feasibility, Risks &amp; Strategies</a:t>
            </a:r>
          </a:p>
          <a:p>
            <a:r>
              <a:rPr lang="en-IN" sz="2400" b="1" dirty="0"/>
              <a:t>Feasibility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Technical:</a:t>
            </a:r>
            <a:r>
              <a:rPr lang="en-IN" sz="2400" dirty="0"/>
              <a:t> Scalable NLP + cloud (AWS/GCP)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Operational:</a:t>
            </a:r>
            <a:r>
              <a:rPr lang="en-IN" sz="2400" dirty="0"/>
              <a:t> Uses WhatsApp/SMS → no install barrier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Economic:</a:t>
            </a:r>
            <a:r>
              <a:rPr lang="en-IN" sz="2400" dirty="0"/>
              <a:t> Low cost per user, high ROI</a:t>
            </a:r>
          </a:p>
          <a:p>
            <a:r>
              <a:rPr lang="en-IN" sz="2400" b="1" dirty="0"/>
              <a:t>Key Risks &amp; Mitigation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Data Accuracy</a:t>
            </a:r>
            <a:r>
              <a:rPr lang="en-IN" sz="2400" dirty="0"/>
              <a:t> → Validation + offline knowledge 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U</a:t>
            </a:r>
            <a:r>
              <a:rPr lang="en-IN" sz="2400" b="1" dirty="0" smtClean="0"/>
              <a:t>ser </a:t>
            </a:r>
            <a:r>
              <a:rPr lang="en-IN" sz="2400" b="1" dirty="0"/>
              <a:t>Trust</a:t>
            </a:r>
            <a:r>
              <a:rPr lang="en-IN" sz="2400" dirty="0"/>
              <a:t> → ASHA/community endorsements, empathetic tone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 smtClean="0"/>
              <a:t>Low </a:t>
            </a:r>
            <a:r>
              <a:rPr lang="en-IN" sz="2400" b="1" dirty="0"/>
              <a:t>Literacy</a:t>
            </a:r>
            <a:r>
              <a:rPr lang="en-IN" sz="2400" dirty="0"/>
              <a:t> → Simple UI + menu options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Privacy</a:t>
            </a:r>
            <a:r>
              <a:rPr lang="en-IN" sz="2400" dirty="0"/>
              <a:t> → Data laws compliance, encryption, </a:t>
            </a:r>
            <a:r>
              <a:rPr lang="en-IN" sz="2400" dirty="0" smtClean="0"/>
              <a:t>anonymization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DEV-RAG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748144" y="1979596"/>
            <a:ext cx="1053869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/>
              <a:t>Impact </a:t>
            </a:r>
            <a:r>
              <a:rPr lang="en-IN" sz="2400" b="1" dirty="0"/>
              <a:t>Analysis &amp; Projected Benefits</a:t>
            </a:r>
          </a:p>
          <a:p>
            <a:r>
              <a:rPr lang="en-IN" sz="2400" b="1" dirty="0"/>
              <a:t>Impact (on Target Audience)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Health Autonomy:</a:t>
            </a:r>
            <a:r>
              <a:rPr lang="en-IN" sz="2400" dirty="0"/>
              <a:t> Validated info → informed personal/family health decisions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Democratization:</a:t>
            </a:r>
            <a:r>
              <a:rPr lang="en-IN" sz="2400" dirty="0"/>
              <a:t> 24/7 confidential access via WhatsApp/SMS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Proactive Action:</a:t>
            </a:r>
            <a:r>
              <a:rPr lang="en-IN" sz="2400" dirty="0"/>
              <a:t> Vaccination reminders &amp; outbreak alerts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Equity:</a:t>
            </a:r>
            <a:r>
              <a:rPr lang="en-IN" sz="2400" dirty="0"/>
              <a:t> Multilingual + </a:t>
            </a:r>
            <a:r>
              <a:rPr lang="en-IN" sz="2400" dirty="0" smtClean="0"/>
              <a:t>UI </a:t>
            </a:r>
            <a:r>
              <a:rPr lang="en-IN" sz="2400" dirty="0"/>
              <a:t>bridging literacy/language gaps</a:t>
            </a:r>
          </a:p>
          <a:p>
            <a:r>
              <a:rPr lang="en-IN" sz="2400" b="1" dirty="0"/>
              <a:t>Projected Benefits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Social:</a:t>
            </a:r>
            <a:r>
              <a:rPr lang="en-IN" sz="2400" dirty="0"/>
              <a:t> ↑ Health literacy, ↓ misinformation, better health indicators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Economic:</a:t>
            </a:r>
            <a:r>
              <a:rPr lang="en-IN" sz="2400" dirty="0"/>
              <a:t> ↓ PHC burden, ↓ family healthcare costs via prevention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Governance:</a:t>
            </a:r>
            <a:r>
              <a:rPr lang="en-IN" sz="2400" dirty="0"/>
              <a:t> Scalable health </a:t>
            </a:r>
            <a:r>
              <a:rPr lang="en-IN" sz="2400" dirty="0" err="1"/>
              <a:t>comms</a:t>
            </a:r>
            <a:r>
              <a:rPr lang="en-IN" sz="2400" dirty="0"/>
              <a:t> + real-time insights for policy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6065" y="1485717"/>
            <a:ext cx="11412661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[1] </a:t>
            </a:r>
            <a:r>
              <a:rPr lang="en-IN" sz="2800" dirty="0"/>
              <a:t>Integrated Disease Surveillance Programme (IDSP</a:t>
            </a:r>
            <a:r>
              <a:rPr lang="en-IN" sz="2800" dirty="0" smtClean="0"/>
              <a:t>): </a:t>
            </a: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3"/>
              </a:rPr>
              <a:t>https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3"/>
              </a:rPr>
              <a:t>://idsp.mohfw.gov.in</a:t>
            </a: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3"/>
              </a:rPr>
              <a:t>/</a:t>
            </a:r>
            <a:endParaRPr lang="en-US" sz="2800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[</a:t>
            </a: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2] </a:t>
            </a:r>
            <a:r>
              <a:rPr lang="en-US" sz="2800" dirty="0" smtClean="0"/>
              <a:t>Ministry </a:t>
            </a:r>
            <a:r>
              <a:rPr lang="en-US" sz="2800" dirty="0"/>
              <a:t>of Health and Family </a:t>
            </a:r>
            <a:r>
              <a:rPr lang="en-US" sz="2800" dirty="0" smtClean="0"/>
              <a:t>Welfare:</a:t>
            </a: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4"/>
              </a:rPr>
              <a:t>https://mohfw.gov.in</a:t>
            </a: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4"/>
              </a:rPr>
              <a:t>/</a:t>
            </a:r>
            <a:endParaRPr lang="en-US" sz="2800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[3] ABHA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: 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5"/>
              </a:rPr>
              <a:t>https://abha.abdm.gov.in/abha/v3</a:t>
            </a: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5"/>
              </a:rPr>
              <a:t>/</a:t>
            </a:r>
            <a:endParaRPr lang="en-US" sz="2800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[4] </a:t>
            </a:r>
            <a:r>
              <a:rPr lang="en-IN" sz="2800" dirty="0"/>
              <a:t>Telecom Subscriptions </a:t>
            </a:r>
            <a:r>
              <a:rPr lang="en-IN" sz="2800" dirty="0"/>
              <a:t>Reports: </a:t>
            </a:r>
            <a:r>
              <a:rPr lang="en-IN" sz="2800" dirty="0">
                <a:hlinkClick r:id="rId6"/>
              </a:rPr>
              <a:t>https://</a:t>
            </a:r>
            <a:r>
              <a:rPr lang="en-IN" sz="2800" dirty="0" smtClean="0">
                <a:hlinkClick r:id="rId6"/>
              </a:rPr>
              <a:t>www.trai.gov.in/release-publication/reports/telecom-subscriptions-reports</a:t>
            </a:r>
            <a:endParaRPr lang="en-IN" sz="2800" dirty="0" smtClean="0"/>
          </a:p>
          <a:p>
            <a:pPr lvl="0">
              <a:defRPr/>
            </a:pPr>
            <a:r>
              <a:rPr lang="en-IN" sz="2800" dirty="0"/>
              <a:t>[</a:t>
            </a:r>
            <a:r>
              <a:rPr lang="en-IN" sz="2800" dirty="0" smtClean="0"/>
              <a:t>5]NATIONAL HEALTH POLICY: https</a:t>
            </a:r>
            <a:r>
              <a:rPr lang="en-IN" sz="2800" dirty="0"/>
              <a:t>://www.mohfw.gov.in/sites/default/files/9147562941489753121.pdf</a:t>
            </a:r>
            <a:endParaRPr lang="en-IN" sz="2800" dirty="0" smtClean="0"/>
          </a:p>
          <a:p>
            <a:pPr lvl="0">
              <a:defRPr/>
            </a:pPr>
            <a:r>
              <a:rPr lang="en-IN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[6] </a:t>
            </a:r>
            <a:r>
              <a:rPr lang="en-IN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WHO: </a:t>
            </a:r>
            <a:r>
              <a:rPr lang="en-IN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7"/>
              </a:rPr>
              <a:t>https://</a:t>
            </a:r>
            <a:r>
              <a:rPr lang="en-IN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7"/>
              </a:rPr>
              <a:t>www.who.int/health-topics/digital-health</a:t>
            </a:r>
            <a:endParaRPr lang="en-IN" sz="2800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>
              <a:defRPr/>
            </a:pPr>
            <a:endParaRPr kumimoji="0" lang="en-US" sz="2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DEV-RAG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7592</TotalTime>
  <Words>479</Words>
  <Application>Microsoft Office PowerPoint</Application>
  <PresentationFormat>Widescreen</PresentationFormat>
  <Paragraphs>88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montserratregular</vt:lpstr>
      <vt:lpstr>Times New Roman</vt:lpstr>
      <vt:lpstr>TradeGothic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Admin</cp:lastModifiedBy>
  <cp:revision>157</cp:revision>
  <dcterms:created xsi:type="dcterms:W3CDTF">2013-12-12T18:46:50Z</dcterms:created>
  <dcterms:modified xsi:type="dcterms:W3CDTF">2025-09-20T19:12:48Z</dcterms:modified>
  <cp:category/>
</cp:coreProperties>
</file>